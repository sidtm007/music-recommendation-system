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" dt="2026-10-10T12:44:17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+mn-lt"/>
              </a:rPr>
              <a:t>Cosine similarity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Cosine similarity</c:v>
                </c:pt>
              </c:strCache>
            </c:strRef>
          </c:tx>
          <c:spPr>
            <a:solidFill>
              <a:srgbClr val="6D4AF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Radioactive</c:v>
                </c:pt>
                <c:pt idx="1">
                  <c:v>Viva La Vida</c:v>
                </c:pt>
                <c:pt idx="2">
                  <c:v>Lose Yourself</c:v>
                </c:pt>
                <c:pt idx="3">
                  <c:v>Rockstar</c:v>
                </c:pt>
                <c:pt idx="4">
                  <c:v>Stressed Out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0.97770000000000001</c:v>
                </c:pt>
                <c:pt idx="1">
                  <c:v>0.97599999999999998</c:v>
                </c:pt>
                <c:pt idx="2">
                  <c:v>0.95850000000000002</c:v>
                </c:pt>
                <c:pt idx="3">
                  <c:v>0.94589999999999996</c:v>
                </c:pt>
                <c:pt idx="4">
                  <c:v>0.93959999999999999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28-4C20-BE13-C8AC0D2D85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t"/>
        <c:majorGridlines>
          <c:spPr>
            <a:ln w="635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E282E-753A-4A79-B0C7-6AAA93740E16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F9928-76AB-4222-B88E-82A9A3AEE8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4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use linear algebra to recommend songs similar to a user's favourite.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platforms recommend songs. We show the maths behind it using only linear algebra.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song vector in 5-dimensional space; stacking rows gives the feature matrix X (n x 5). We used 38 songs.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in BPM would dominate the dot product, so each column is rescaled to the range 0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user's song Blinding Lights vs recommended song Radioactive, using normalised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cos(theta)=dot/(norm*norm). Angle theta = arccos(cos).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songs are scored with one matrix-vector product, then sorted.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 by cosine similarity from the 38-song dataset. The axis starts at 0.9 to make differences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select a favourite song, the app ranks recommendations and shows every mathematical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Covariance matrix of centred X; eigen-decomposition; projection onto the top 2 eigenvectors.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answer: which concept, why did you use it, what did it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each concept contributed.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D4AFF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9A8FF"/>
                </a:solidFill>
              </a:rPr>
              <a:t>MFAD · MINI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3716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Linear Algebra Based Music Recommendation System Using Vector Similarity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CCFF"/>
                </a:solidFill>
              </a:rPr>
              <a:t>Vectors · Matrices · Dot Product · Norms · Cosine Similarity · PCA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Team members:</a:t>
            </a:r>
            <a:endParaRPr lang="en-US" sz="2000">
              <a:solidFill>
                <a:srgbClr val="111827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1)Siddhanth T Murthy (PES1UG25AM388)</a:t>
            </a:r>
            <a:endParaRPr lang="en-US" sz="1400">
              <a:solidFill>
                <a:srgbClr val="111827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2)Siddharth K (PES1UG25AM389)</a:t>
            </a:r>
            <a:endParaRPr lang="en-US" sz="1400">
              <a:solidFill>
                <a:srgbClr val="111827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3)Prasad M (PES1UG26AM815)</a:t>
            </a:r>
            <a:endParaRPr lang="en-US" sz="1400">
              <a:solidFill>
                <a:srgbClr val="111827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4)Siddharth M R (PES1UG25AM391)</a:t>
            </a:r>
            <a:endParaRPr lang="en-US" sz="1400">
              <a:solidFill>
                <a:srgbClr val="111827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solidFill>
                <a:srgbClr val="B9A8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Problem card"/>
          <p:cNvSpPr/>
          <p:nvPr/>
        </p:nvSpPr>
        <p:spPr>
          <a:xfrm>
            <a:off x="50292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Problem body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Millions of songs, one listener. How can a computer decide that two songs “sound alike”?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Idea: describe every song by numbers (energy, danceability, …) so that “similar songs” becomes “similar vectors”.</a:t>
            </a:r>
            <a:endParaRPr lang="en-US" sz="1400" dirty="0"/>
          </a:p>
        </p:txBody>
      </p:sp>
      <p:sp>
        <p:nvSpPr>
          <p:cNvPr id="7" name="Objectives card"/>
          <p:cNvSpPr/>
          <p:nvPr/>
        </p:nvSpPr>
        <p:spPr>
          <a:xfrm>
            <a:off x="466344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8" name="Objectives head"/>
          <p:cNvSpPr txBox="1"/>
          <p:nvPr/>
        </p:nvSpPr>
        <p:spPr>
          <a:xfrm>
            <a:off x="4800600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Objectives</a:t>
            </a:r>
            <a:endParaRPr lang="en-US" sz="1400" dirty="0"/>
          </a:p>
        </p:txBody>
      </p:sp>
      <p:sp>
        <p:nvSpPr>
          <p:cNvPr id="9" name="Objectives body"/>
          <p:cNvSpPr txBox="1"/>
          <p:nvPr/>
        </p:nvSpPr>
        <p:spPr>
          <a:xfrm>
            <a:off x="4800600" y="155448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Represent songs as vectors and the dataset as a matrix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Normalise features so none dominates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 similarity with dot product, norms and angle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 songs to give Top-N recommendations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PCA (eigenvectors) to visualise the music space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1 · Songs as Vectors, Dataset as a Matrix</a:t>
            </a:r>
            <a:endParaRPr lang="en-US" sz="2600" dirty="0"/>
          </a:p>
        </p:txBody>
      </p:sp>
      <p:graphicFrame>
        <p:nvGraphicFramePr>
          <p:cNvPr id="4" name="So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1737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Energy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Dance.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Acoustic.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Valence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Blinding Lights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0.80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0.51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0.33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171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Radioactive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0.78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0.24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136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Lose Yourself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0.73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0.69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171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Lovely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0.35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0.93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Vector eq"/>
          <p:cNvSpPr txBox="1"/>
          <p:nvPr/>
        </p:nvSpPr>
        <p:spPr>
          <a:xfrm>
            <a:off x="502920" y="3017520"/>
            <a:ext cx="3931920" cy="6400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S₁ = [0.80, 0.51, 0.00, 0.33, 171]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[S₁; S₂; … ; S₃₈]  (38×5)</a:t>
            </a:r>
            <a:endParaRPr lang="en-US" sz="1200" dirty="0"/>
          </a:p>
        </p:txBody>
      </p:sp>
      <p:sp>
        <p:nvSpPr>
          <p:cNvPr id="6" name="Why card"/>
          <p:cNvSpPr/>
          <p:nvPr/>
        </p:nvSpPr>
        <p:spPr>
          <a:xfrm>
            <a:off x="4663440" y="288036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7" name="Why head"/>
          <p:cNvSpPr txBox="1"/>
          <p:nvPr/>
        </p:nvSpPr>
        <p:spPr>
          <a:xfrm>
            <a:off x="4800600" y="2971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vectors?</a:t>
            </a:r>
            <a:endParaRPr lang="en-US" sz="1400" dirty="0"/>
          </a:p>
        </p:txBody>
      </p:sp>
      <p:sp>
        <p:nvSpPr>
          <p:cNvPr id="8" name="Why body"/>
          <p:cNvSpPr txBox="1"/>
          <p:nvPr/>
        </p:nvSpPr>
        <p:spPr>
          <a:xfrm>
            <a:off x="4800600" y="333756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vector places each song as a point in feature space. Close points / similar directions ⇒ similar songs. The matrix X lets us process all songs in one operation.</a:t>
            </a:r>
            <a:endParaRPr lang="en-US" sz="1200" dirty="0"/>
          </a:p>
        </p:txBody>
      </p:sp>
      <p:sp>
        <p:nvSpPr>
          <p:cNvPr id="9" name="Features card"/>
          <p:cNvSpPr/>
          <p:nvPr/>
        </p:nvSpPr>
        <p:spPr>
          <a:xfrm>
            <a:off x="502920" y="374904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10" name="Features head"/>
          <p:cNvSpPr txBox="1"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Features: energy · danceability · acousticness · valence · tempo</a:t>
            </a:r>
            <a:endParaRPr lang="en-US" sz="1100" dirty="0"/>
          </a:p>
        </p:txBody>
      </p:sp>
      <p:sp>
        <p:nvSpPr>
          <p:cNvPr id="11" name="Features body"/>
          <p:cNvSpPr txBox="1"/>
          <p:nvPr/>
        </p:nvSpPr>
        <p:spPr>
          <a:xfrm>
            <a:off x="640080" y="4206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2 · Normalisation (Min–Max Scaling)</a:t>
            </a:r>
            <a:endParaRPr lang="en-US" sz="2600" dirty="0"/>
          </a:p>
        </p:txBody>
      </p:sp>
      <p:sp>
        <p:nvSpPr>
          <p:cNvPr id="4" name="Formula"/>
          <p:cNvSpPr txBox="1"/>
          <p:nvPr/>
        </p:nvSpPr>
        <p:spPr>
          <a:xfrm>
            <a:off x="502920" y="1097280"/>
            <a:ext cx="3931920" cy="73152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x′ = (x − min) / (max − min)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 to every column of X</a:t>
            </a:r>
            <a:endParaRPr lang="en-US" sz="1300" dirty="0"/>
          </a:p>
        </p:txBody>
      </p:sp>
      <p:sp>
        <p:nvSpPr>
          <p:cNvPr id="5" name="Why card"/>
          <p:cNvSpPr/>
          <p:nvPr/>
        </p:nvSpPr>
        <p:spPr>
          <a:xfrm>
            <a:off x="502920" y="2011680"/>
            <a:ext cx="3931920" cy="246888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6" name="Why head"/>
          <p:cNvSpPr txBox="1"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normalise?</a:t>
            </a:r>
            <a:endParaRPr lang="en-US" sz="1400" dirty="0"/>
          </a:p>
        </p:txBody>
      </p:sp>
      <p:sp>
        <p:nvSpPr>
          <p:cNvPr id="7" name="Why body"/>
          <p:cNvSpPr txBox="1"/>
          <p:nvPr/>
        </p:nvSpPr>
        <p:spPr>
          <a:xfrm>
            <a:off x="640080" y="24688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Tempo is 72–171 while others are 0–1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Without scaling, tempo decides almost everything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After scaling every feature contributes fairly</a:t>
            </a:r>
            <a:endParaRPr lang="en-US" sz="1300" dirty="0"/>
          </a:p>
        </p:txBody>
      </p:sp>
      <p:sp>
        <p:nvSpPr>
          <p:cNvPr id="8" name="Result card"/>
          <p:cNvSpPr/>
          <p:nvPr/>
        </p:nvSpPr>
        <p:spPr>
          <a:xfrm>
            <a:off x="466344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9" name="Result head"/>
          <p:cNvSpPr txBox="1"/>
          <p:nvPr/>
        </p:nvSpPr>
        <p:spPr>
          <a:xfrm>
            <a:off x="4800600" y="11887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Result: Blinding Lights</a:t>
            </a:r>
            <a:endParaRPr lang="en-US" sz="1400" dirty="0"/>
          </a:p>
        </p:txBody>
      </p:sp>
      <p:sp>
        <p:nvSpPr>
          <p:cNvPr id="10" name="Result body"/>
          <p:cNvSpPr txBox="1"/>
          <p:nvPr/>
        </p:nvSpPr>
        <p:spPr>
          <a:xfrm>
            <a:off x="4800600" y="155448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1" name="Raw"/>
          <p:cNvSpPr txBox="1"/>
          <p:nvPr/>
        </p:nvSpPr>
        <p:spPr>
          <a:xfrm>
            <a:off x="4846320" y="1645920"/>
            <a:ext cx="3611880" cy="6400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  = [0.80, 0.51, 0.00, 0.33, 171]</a:t>
            </a:r>
            <a:endParaRPr lang="en-US" sz="1100" dirty="0"/>
          </a:p>
        </p:txBody>
      </p:sp>
      <p:sp>
        <p:nvSpPr>
          <p:cNvPr id="12" name="Norm"/>
          <p:cNvSpPr txBox="1"/>
          <p:nvPr/>
        </p:nvSpPr>
        <p:spPr>
          <a:xfrm>
            <a:off x="4846320" y="2423160"/>
            <a:ext cx="3611880" cy="6400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  = [0.849, 0.441, 0.000, 0.300, 1.000]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2461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All 38×5 entries now lie in [0, 1]; tempo 171 BPM → 1.0, 72 BPM → 0.0.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3 · Dot Product and Norms</a:t>
            </a:r>
            <a:endParaRPr lang="en-US" sz="2600" dirty="0"/>
          </a:p>
        </p:txBody>
      </p:sp>
      <p:sp>
        <p:nvSpPr>
          <p:cNvPr id="4" name="S1"/>
          <p:cNvSpPr txBox="1"/>
          <p:nvPr/>
        </p:nvSpPr>
        <p:spPr>
          <a:xfrm>
            <a:off x="502920" y="1097280"/>
            <a:ext cx="8138160" cy="4114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S₁′ (Blinding Lights) = [0.849, 0.441, 0.000, 0.300, 1.000]</a:t>
            </a:r>
            <a:endParaRPr lang="en-US" sz="1200" dirty="0"/>
          </a:p>
        </p:txBody>
      </p:sp>
      <p:sp>
        <p:nvSpPr>
          <p:cNvPr id="5" name="S2"/>
          <p:cNvSpPr txBox="1"/>
          <p:nvPr/>
        </p:nvSpPr>
        <p:spPr>
          <a:xfrm>
            <a:off x="502920" y="1600200"/>
            <a:ext cx="8138160" cy="4114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S₂′ (Radioactive)     = [0.822, 0.353, 0.108, 0.200, 0.646]</a:t>
            </a:r>
            <a:endParaRPr lang="en-US" sz="1200" dirty="0"/>
          </a:p>
        </p:txBody>
      </p:sp>
      <p:sp>
        <p:nvSpPr>
          <p:cNvPr id="6" name="Dot card"/>
          <p:cNvSpPr/>
          <p:nvPr/>
        </p:nvSpPr>
        <p:spPr>
          <a:xfrm>
            <a:off x="502920" y="2194560"/>
            <a:ext cx="397764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7" name="Dot head"/>
          <p:cNvSpPr txBox="1"/>
          <p:nvPr/>
        </p:nvSpPr>
        <p:spPr>
          <a:xfrm>
            <a:off x="64008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Dot product = feature alignment</a:t>
            </a:r>
            <a:endParaRPr lang="en-US" sz="1400" dirty="0"/>
          </a:p>
        </p:txBody>
      </p:sp>
      <p:sp>
        <p:nvSpPr>
          <p:cNvPr id="8" name="Dot body"/>
          <p:cNvSpPr txBox="1"/>
          <p:nvPr/>
        </p:nvSpPr>
        <p:spPr>
          <a:xfrm>
            <a:off x="640080" y="265176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9" name="Dot calc"/>
          <p:cNvSpPr txBox="1"/>
          <p:nvPr/>
        </p:nvSpPr>
        <p:spPr>
          <a:xfrm>
            <a:off x="640080" y="2697480"/>
            <a:ext cx="3703320" cy="82296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S₁′·S₂′ = Σ s₁ᵢ s₂ᵢ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0.698+0.156+0+0.060+0.646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1.5602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118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Large when both songs are high or low in the same features.</a:t>
            </a:r>
            <a:endParaRPr lang="en-US" sz="1200" dirty="0"/>
          </a:p>
        </p:txBody>
      </p:sp>
      <p:sp>
        <p:nvSpPr>
          <p:cNvPr id="11" name="Norm card"/>
          <p:cNvSpPr/>
          <p:nvPr/>
        </p:nvSpPr>
        <p:spPr>
          <a:xfrm>
            <a:off x="4663440" y="2194560"/>
            <a:ext cx="3977640" cy="2286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12" name="Norm head"/>
          <p:cNvSpPr txBox="1"/>
          <p:nvPr/>
        </p:nvSpPr>
        <p:spPr>
          <a:xfrm>
            <a:off x="480060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Norm = vector magnitude</a:t>
            </a:r>
            <a:endParaRPr lang="en-US" sz="1400" dirty="0"/>
          </a:p>
        </p:txBody>
      </p:sp>
      <p:sp>
        <p:nvSpPr>
          <p:cNvPr id="13" name="Norm body"/>
          <p:cNvSpPr txBox="1"/>
          <p:nvPr/>
        </p:nvSpPr>
        <p:spPr>
          <a:xfrm>
            <a:off x="4800600" y="265176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4" name="Norm calc"/>
          <p:cNvSpPr txBox="1"/>
          <p:nvPr/>
        </p:nvSpPr>
        <p:spPr>
          <a:xfrm>
            <a:off x="4800600" y="2697480"/>
            <a:ext cx="3703320" cy="82296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‖v‖ = √(v·v)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‖S₁′‖ = 1.4163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‖S₂′‖ = 1.1268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36118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Dividing by norms removes magnitude so only direction (taste) is compared.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4 · Cosine Similarity and Angle</a:t>
            </a:r>
            <a:endParaRPr lang="en-US" sz="2600" dirty="0"/>
          </a:p>
        </p:txBody>
      </p:sp>
      <p:sp>
        <p:nvSpPr>
          <p:cNvPr id="4" name="Cos formula"/>
          <p:cNvSpPr txBox="1"/>
          <p:nvPr/>
        </p:nvSpPr>
        <p:spPr>
          <a:xfrm>
            <a:off x="502920" y="1097280"/>
            <a:ext cx="8138160" cy="6400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θ = (S₁′ · S₂′) / (‖S₁′‖ ‖S₂′‖)</a:t>
            </a:r>
            <a:endParaRPr lang="en-US" sz="1800" dirty="0"/>
          </a:p>
        </p:txBody>
      </p:sp>
      <p:sp>
        <p:nvSpPr>
          <p:cNvPr id="5" name="Cos calc"/>
          <p:cNvSpPr txBox="1"/>
          <p:nvPr/>
        </p:nvSpPr>
        <p:spPr>
          <a:xfrm>
            <a:off x="502920" y="1920240"/>
            <a:ext cx="8138160" cy="82296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 θ = 1.5602 / (1.4163 × 1.1268) = 0.9777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arccos(0.9777) = 12.13°</a:t>
            </a:r>
            <a:endParaRPr lang="en-US" sz="1600" dirty="0"/>
          </a:p>
        </p:txBody>
      </p:sp>
      <p:sp>
        <p:nvSpPr>
          <p:cNvPr id="6" name="Meaning card"/>
          <p:cNvSpPr/>
          <p:nvPr/>
        </p:nvSpPr>
        <p:spPr>
          <a:xfrm>
            <a:off x="502920" y="297180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7" name="Meaning head"/>
          <p:cNvSpPr txBox="1"/>
          <p:nvPr/>
        </p:nvSpPr>
        <p:spPr>
          <a:xfrm>
            <a:off x="640080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8" name="Meaning body"/>
          <p:cNvSpPr txBox="1"/>
          <p:nvPr/>
        </p:nvSpPr>
        <p:spPr>
          <a:xfrm>
            <a:off x="64008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 θ = 1 → same direction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 θ = 0 → unrelated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Here 12° ⇒ very similar songs</a:t>
            </a:r>
            <a:endParaRPr lang="en-US" sz="1300" dirty="0"/>
          </a:p>
        </p:txBody>
      </p:sp>
      <p:sp>
        <p:nvSpPr>
          <p:cNvPr id="9" name="Why card"/>
          <p:cNvSpPr/>
          <p:nvPr/>
        </p:nvSpPr>
        <p:spPr>
          <a:xfrm>
            <a:off x="4663440" y="2971800"/>
            <a:ext cx="39776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10" name="Why head"/>
          <p:cNvSpPr txBox="1"/>
          <p:nvPr/>
        </p:nvSpPr>
        <p:spPr>
          <a:xfrm>
            <a:off x="4800600" y="3063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cosine?</a:t>
            </a:r>
            <a:endParaRPr lang="en-US" sz="1400" dirty="0"/>
          </a:p>
        </p:txBody>
      </p:sp>
      <p:sp>
        <p:nvSpPr>
          <p:cNvPr id="11" name="Why body"/>
          <p:cNvSpPr txBox="1"/>
          <p:nvPr/>
        </p:nvSpPr>
        <p:spPr>
          <a:xfrm>
            <a:off x="4800600" y="34290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It compares the shape of the taste profile, not its size, and is cheap to compute for every song.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5 · System Pipeline and Matrix Operations</a:t>
            </a:r>
            <a:endParaRPr lang="en-US" sz="2600" dirty="0"/>
          </a:p>
        </p:txBody>
      </p:sp>
      <p:sp>
        <p:nvSpPr>
          <p:cNvPr id="4" name="Stage 1"/>
          <p:cNvSpPr/>
          <p:nvPr/>
        </p:nvSpPr>
        <p:spPr>
          <a:xfrm>
            <a:off x="5029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tage text 1"/>
          <p:cNvSpPr txBox="1"/>
          <p:nvPr/>
        </p:nvSpPr>
        <p:spPr>
          <a:xfrm>
            <a:off x="5029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Dataset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tage 2"/>
          <p:cNvSpPr/>
          <p:nvPr/>
        </p:nvSpPr>
        <p:spPr>
          <a:xfrm>
            <a:off x="18745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Stage text 2"/>
          <p:cNvSpPr txBox="1"/>
          <p:nvPr/>
        </p:nvSpPr>
        <p:spPr>
          <a:xfrm>
            <a:off x="18745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matrix 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tage 3"/>
          <p:cNvSpPr/>
          <p:nvPr/>
        </p:nvSpPr>
        <p:spPr>
          <a:xfrm>
            <a:off x="32461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tage text 3"/>
          <p:cNvSpPr txBox="1"/>
          <p:nvPr/>
        </p:nvSpPr>
        <p:spPr>
          <a:xfrm>
            <a:off x="32461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Normalise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tage 4"/>
          <p:cNvSpPr/>
          <p:nvPr/>
        </p:nvSpPr>
        <p:spPr>
          <a:xfrm>
            <a:off x="46177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tage text 4"/>
          <p:cNvSpPr txBox="1"/>
          <p:nvPr/>
        </p:nvSpPr>
        <p:spPr>
          <a:xfrm>
            <a:off x="46177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Preference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vector 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tage 5"/>
          <p:cNvSpPr/>
          <p:nvPr/>
        </p:nvSpPr>
        <p:spPr>
          <a:xfrm>
            <a:off x="59893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Stage text 5"/>
          <p:cNvSpPr txBox="1"/>
          <p:nvPr/>
        </p:nvSpPr>
        <p:spPr>
          <a:xfrm>
            <a:off x="59893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Cosine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scores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tage 6"/>
          <p:cNvSpPr/>
          <p:nvPr/>
        </p:nvSpPr>
        <p:spPr>
          <a:xfrm>
            <a:off x="7360920" y="118872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Stage text 6"/>
          <p:cNvSpPr txBox="1"/>
          <p:nvPr/>
        </p:nvSpPr>
        <p:spPr>
          <a:xfrm>
            <a:off x="73609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Top-N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ranking</a:t>
            </a:r>
            <a:endParaRPr lang="en-US" sz="1200" dirty="0"/>
          </a:p>
        </p:txBody>
      </p:sp>
      <p:sp>
        <p:nvSpPr>
          <p:cNvPr id="21" name="Matrix card"/>
          <p:cNvSpPr/>
          <p:nvPr/>
        </p:nvSpPr>
        <p:spPr>
          <a:xfrm>
            <a:off x="502920" y="2331720"/>
            <a:ext cx="39776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22" name="Matrix head"/>
          <p:cNvSpPr txBox="1"/>
          <p:nvPr/>
        </p:nvSpPr>
        <p:spPr>
          <a:xfrm>
            <a:off x="640080" y="2423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Matrix operations</a:t>
            </a:r>
            <a:endParaRPr lang="en-US" sz="1400" dirty="0"/>
          </a:p>
        </p:txBody>
      </p:sp>
      <p:sp>
        <p:nvSpPr>
          <p:cNvPr id="23" name="Matrix body"/>
          <p:cNvSpPr txBox="1"/>
          <p:nvPr/>
        </p:nvSpPr>
        <p:spPr>
          <a:xfrm>
            <a:off x="640080" y="278892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24" name="Matrix eq"/>
          <p:cNvSpPr txBox="1"/>
          <p:nvPr/>
        </p:nvSpPr>
        <p:spPr>
          <a:xfrm>
            <a:off x="640080" y="2834640"/>
            <a:ext cx="3703320" cy="77724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mean of favourite vectors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(X′·p)/(‖X′ᵢ‖‖p‖)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 = X̂ X̂ᵀ  (38×38)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749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X̂ = rows of X′ divided by their norms.</a:t>
            </a:r>
            <a:endParaRPr lang="en-US" sz="1200" dirty="0"/>
          </a:p>
        </p:txBody>
      </p:sp>
      <p:sp>
        <p:nvSpPr>
          <p:cNvPr id="26" name="Taste card"/>
          <p:cNvSpPr/>
          <p:nvPr/>
        </p:nvSpPr>
        <p:spPr>
          <a:xfrm>
            <a:off x="4663440" y="2331720"/>
            <a:ext cx="397764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27" name="Taste head"/>
          <p:cNvSpPr txBox="1"/>
          <p:nvPr/>
        </p:nvSpPr>
        <p:spPr>
          <a:xfrm>
            <a:off x="4800600" y="2423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Taste profile (projection idea)</a:t>
            </a:r>
            <a:endParaRPr lang="en-US" sz="1400" dirty="0"/>
          </a:p>
        </p:txBody>
      </p:sp>
      <p:sp>
        <p:nvSpPr>
          <p:cNvPr id="28" name="Taste body"/>
          <p:cNvSpPr txBox="1"/>
          <p:nvPr/>
        </p:nvSpPr>
        <p:spPr>
          <a:xfrm>
            <a:off x="4800600" y="278892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Choosing several favourite songs averages their vectors into one preference vector p. The best songs are those whose vectors make the smallest angle with p.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 · Recommendations for “Blinding Lights”</a:t>
            </a:r>
            <a:endParaRPr lang="en-US" sz="2600" dirty="0"/>
          </a:p>
        </p:txBody>
      </p:sp>
      <p:graphicFrame>
        <p:nvGraphicFramePr>
          <p:cNvPr id="4" name="Results chart"/>
          <p:cNvGraphicFramePr/>
          <p:nvPr/>
        </p:nvGraphicFramePr>
        <p:xfrm>
          <a:off x="502920" y="10515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Why card"/>
          <p:cNvSpPr/>
          <p:nvPr/>
        </p:nvSpPr>
        <p:spPr>
          <a:xfrm>
            <a:off x="5852160" y="1097280"/>
            <a:ext cx="2788920" cy="338328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6" name="Why head"/>
          <p:cNvSpPr txBox="1"/>
          <p:nvPr/>
        </p:nvSpPr>
        <p:spPr>
          <a:xfrm>
            <a:off x="5989320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these songs?</a:t>
            </a:r>
            <a:endParaRPr lang="en-US" sz="1400" dirty="0"/>
          </a:p>
        </p:txBody>
      </p:sp>
      <p:sp>
        <p:nvSpPr>
          <p:cNvPr id="7" name="Why body"/>
          <p:cNvSpPr txBox="1"/>
          <p:nvPr/>
        </p:nvSpPr>
        <p:spPr>
          <a:xfrm>
            <a:off x="5989320" y="155448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High-energy tracks with similar valence and mid-to-low danceability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 acousticness like the input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Scores 0.94–0.98 (angles ≈ 12°–20°)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Application Demo · Streamlit Interface</a:t>
            </a:r>
            <a:endParaRPr lang="en-US" sz="2600" dirty="0"/>
          </a:p>
        </p:txBody>
      </p:sp>
      <p:pic>
        <p:nvPicPr>
          <p:cNvPr id="4" name="Demo recommendations" descr="Streamlit app recommendations t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2697480" cy="3529584"/>
          </a:xfrm>
          <a:prstGeom prst="rect">
            <a:avLst/>
          </a:prstGeom>
        </p:spPr>
      </p:pic>
      <p:pic>
        <p:nvPicPr>
          <p:cNvPr id="5" name="Demo math" descr="Streamlit app math walkthrough ta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51560"/>
            <a:ext cx="2697480" cy="3529584"/>
          </a:xfrm>
          <a:prstGeom prst="rect">
            <a:avLst/>
          </a:prstGeom>
        </p:spPr>
      </p:pic>
      <p:sp>
        <p:nvSpPr>
          <p:cNvPr id="6" name="Demo notes card"/>
          <p:cNvSpPr/>
          <p:nvPr/>
        </p:nvSpPr>
        <p:spPr>
          <a:xfrm>
            <a:off x="6217920" y="1097280"/>
            <a:ext cx="2423160" cy="347472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7" name="Demo notes head"/>
          <p:cNvSpPr txBox="1"/>
          <p:nvPr/>
        </p:nvSpPr>
        <p:spPr>
          <a:xfrm>
            <a:off x="6355080" y="1188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the app works</a:t>
            </a:r>
            <a:endParaRPr lang="en-US" sz="1400" dirty="0"/>
          </a:p>
        </p:txBody>
      </p:sp>
      <p:sp>
        <p:nvSpPr>
          <p:cNvPr id="8" name="Demo notes body"/>
          <p:cNvSpPr txBox="1"/>
          <p:nvPr/>
        </p:nvSpPr>
        <p:spPr>
          <a:xfrm>
            <a:off x="6355080" y="155448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Choose one or more favourite songs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Top-N list with cosine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Math tab shows each step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Matrix tab and PCA map tabs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Step 6 · PCA: Eigenvectors and Projection</a:t>
            </a:r>
            <a:endParaRPr lang="en-US" sz="2600" dirty="0"/>
          </a:p>
        </p:txBody>
      </p:sp>
      <p:pic>
        <p:nvPicPr>
          <p:cNvPr id="4" name="PCA plot" descr="PCA scatter plot of songs with Blinding Lights and its recommendations highligh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4846320" cy="3483864"/>
          </a:xfrm>
          <a:prstGeom prst="rect">
            <a:avLst/>
          </a:prstGeom>
        </p:spPr>
      </p:pic>
      <p:sp>
        <p:nvSpPr>
          <p:cNvPr id="5" name="PCA eq"/>
          <p:cNvSpPr txBox="1"/>
          <p:nvPr/>
        </p:nvSpPr>
        <p:spPr>
          <a:xfrm>
            <a:off x="5532120" y="1097280"/>
            <a:ext cx="3108960" cy="868680"/>
          </a:xfrm>
          <a:prstGeom prst="rect">
            <a:avLst/>
          </a:prstGeom>
          <a:solidFill>
            <a:srgbClr val="ECE8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X_cᵀX_c /(n−1)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v = λ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X_c · V₂</a:t>
            </a:r>
            <a:endParaRPr lang="en-US" sz="1100" dirty="0"/>
          </a:p>
        </p:txBody>
      </p:sp>
      <p:sp>
        <p:nvSpPr>
          <p:cNvPr id="6" name="PCA res card"/>
          <p:cNvSpPr/>
          <p:nvPr/>
        </p:nvSpPr>
        <p:spPr>
          <a:xfrm>
            <a:off x="5532120" y="2103120"/>
            <a:ext cx="31089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7" name="PCA res head"/>
          <p:cNvSpPr txBox="1"/>
          <p:nvPr/>
        </p:nvSpPr>
        <p:spPr>
          <a:xfrm>
            <a:off x="56692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</a:t>
            </a:r>
            <a:endParaRPr lang="en-US" sz="1400" dirty="0"/>
          </a:p>
        </p:txBody>
      </p:sp>
      <p:sp>
        <p:nvSpPr>
          <p:cNvPr id="8" name="PCA res body"/>
          <p:cNvSpPr txBox="1"/>
          <p:nvPr/>
        </p:nvSpPr>
        <p:spPr>
          <a:xfrm>
            <a:off x="5669280" y="25603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Eigenvalues: 0.185, 0.106, 0.047, 0.029, 0.018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PC1 = 48.1%, PC2 = 27.5% of variance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2 keep 75.5% of information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5-D → 2-D music map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Mathematical Concepts: What, Why, Result</a:t>
            </a:r>
            <a:endParaRPr lang="en-US" sz="2600" dirty="0"/>
          </a:p>
        </p:txBody>
      </p:sp>
      <p:graphicFrame>
        <p:nvGraphicFramePr>
          <p:cNvPr id="12" name="Concept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33649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used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Vectors and matrix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Represent each song and the whole dataset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38×5 feature matrix 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Normalisation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Stop tempo (BPM) dominating the other features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All values scaled to [0, 1]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Dot product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Measure feature alignment of two songs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S₁′·S₂′ = 1.5602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Norms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Remove magnitude; compare direction only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1.4163 and 1.1268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Cosine similarity, angle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Turn alignment into a similarity score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 θ = 0.9777, θ = 12.13°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Matrix product X̂X̂ᵀ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Score every song pair at once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38×38 similarity matrix, Top-N list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Projection, eigenvectors, PCA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Reduce 5 features to 2 and visualise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2-D map, 75.5% variance kept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 and Future Work</a:t>
            </a:r>
            <a:endParaRPr lang="en-US" sz="2600" dirty="0"/>
          </a:p>
        </p:txBody>
      </p:sp>
      <p:sp>
        <p:nvSpPr>
          <p:cNvPr id="4" name="Concl card"/>
          <p:cNvSpPr/>
          <p:nvPr/>
        </p:nvSpPr>
        <p:spPr>
          <a:xfrm>
            <a:off x="502920" y="1097280"/>
            <a:ext cx="48463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5" name="Concl head"/>
          <p:cNvSpPr txBox="1"/>
          <p:nvPr/>
        </p:nvSpPr>
        <p:spPr>
          <a:xfrm>
            <a:off x="6400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6" name="Concl body"/>
          <p:cNvSpPr txBox="1"/>
          <p:nvPr/>
        </p:nvSpPr>
        <p:spPr>
          <a:xfrm>
            <a:off x="640080" y="155448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Vectors &amp; matrix: songs and dataset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Normalisation: fair feature scales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Dot product, norms, cosine: similarity score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matrix product scores all songs → Top-N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Eigenvectors / PCA: 2-D visual map</a:t>
            </a:r>
            <a:endParaRPr lang="en-US" sz="1400" dirty="0"/>
          </a:p>
        </p:txBody>
      </p:sp>
      <p:sp>
        <p:nvSpPr>
          <p:cNvPr id="7" name="Future card"/>
          <p:cNvSpPr/>
          <p:nvPr/>
        </p:nvSpPr>
        <p:spPr>
          <a:xfrm>
            <a:off x="5532120" y="109728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E5E7EF"/>
            </a:solidFill>
            <a:prstDash val="solid"/>
          </a:ln>
        </p:spPr>
      </p:sp>
      <p:sp>
        <p:nvSpPr>
          <p:cNvPr id="8" name="Future head"/>
          <p:cNvSpPr txBox="1"/>
          <p:nvPr/>
        </p:nvSpPr>
        <p:spPr>
          <a:xfrm>
            <a:off x="5669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9" name="Future body"/>
          <p:cNvSpPr txBox="1"/>
          <p:nvPr/>
        </p:nvSpPr>
        <p:spPr>
          <a:xfrm>
            <a:off x="5669280" y="155448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Spotify dataset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features and genres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Listening history &amp; weights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Compare with collaborative filtering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icLA">
  <a:themeElements>
    <a:clrScheme name="MusicLA">
      <a:dk1>
        <a:srgbClr val="1B1F2A"/>
      </a:dk1>
      <a:lt1>
        <a:srgbClr val="FFFFFF"/>
      </a:lt1>
      <a:dk2>
        <a:srgbClr val="1E1B4B"/>
      </a:dk2>
      <a:lt2>
        <a:srgbClr val="F4F5FA"/>
      </a:lt2>
      <a:accent1>
        <a:srgbClr val="6D4AFF"/>
      </a:accent1>
      <a:accent2>
        <a:srgbClr val="16A34A"/>
      </a:accent2>
      <a:accent3>
        <a:srgbClr val="F59E0B"/>
      </a:accent3>
      <a:accent4>
        <a:srgbClr val="EF4444"/>
      </a:accent4>
      <a:accent5>
        <a:srgbClr val="0EA5E9"/>
      </a:accent5>
      <a:accent6>
        <a:srgbClr val="6B7280"/>
      </a:accent6>
      <a:hlink>
        <a:srgbClr val="6D4AFF"/>
      </a:hlink>
      <a:folHlink>
        <a:srgbClr val="6B7280"/>
      </a:folHlink>
    </a:clrScheme>
    <a:fontScheme name="MusicL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MusicLA</vt:lpstr>
      <vt:lpstr>PowerPoint Presentation</vt:lpstr>
      <vt:lpstr>Problem Statement &amp; Objectives</vt:lpstr>
      <vt:lpstr>Step 1 · Songs as Vectors, Dataset as a Matrix</vt:lpstr>
      <vt:lpstr>Step 2 · Normalisation (Min–Max Scaling)</vt:lpstr>
      <vt:lpstr>Step 3 · Dot Product and Norms</vt:lpstr>
      <vt:lpstr>Step 4 · Cosine Similarity and Angle</vt:lpstr>
      <vt:lpstr>Step 5 · System Pipeline and Matrix Operations</vt:lpstr>
      <vt:lpstr>Result · Recommendations for “Blinding Lights”</vt:lpstr>
      <vt:lpstr>Application Demo · Streamlit Interface</vt:lpstr>
      <vt:lpstr>Step 6 · PCA: Eigenvectors and Projection</vt:lpstr>
      <vt:lpstr>Mathematical Concepts: What, Why, Result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 Based Music Recommendation System</dc:title>
  <dc:subject>PptxGenJS Presentation</dc:subject>
  <dc:creator>PptxGenJS</dc:creator>
  <cp:lastModifiedBy>PptxGenJS</cp:lastModifiedBy>
  <cp:revision>8</cp:revision>
  <dcterms:created xsi:type="dcterms:W3CDTF">2026-10-10T11:37:35Z</dcterms:created>
  <dcterms:modified xsi:type="dcterms:W3CDTF">2026-10-10T12:44:41Z</dcterms:modified>
</cp:coreProperties>
</file>